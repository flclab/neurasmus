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61"/>
  </p:normalViewPr>
  <p:slideViewPr>
    <p:cSldViewPr snapToGrid="0">
      <p:cViewPr varScale="1">
        <p:scale>
          <a:sx n="95" d="100"/>
          <a:sy n="95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5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1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4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79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54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6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8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2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9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6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9E8AC2E-4725-DA43-8FAD-F4A1E47B4C2B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1A2B62-0A23-8C49-ADD8-9DE1C9ED9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75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D37DA8-2443-EC6D-EBE1-83B9909C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6" y="5083"/>
            <a:ext cx="10515600" cy="1325563"/>
          </a:xfrm>
        </p:spPr>
        <p:txBody>
          <a:bodyPr/>
          <a:lstStyle/>
          <a:p>
            <a:r>
              <a:rPr lang="en-US" dirty="0"/>
              <a:t>Unsupervised learning : 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37AB1-609D-75D3-13B5-37D5B2B99538}"/>
              </a:ext>
            </a:extLst>
          </p:cNvPr>
          <p:cNvSpPr txBox="1"/>
          <p:nvPr/>
        </p:nvSpPr>
        <p:spPr>
          <a:xfrm>
            <a:off x="4654550" y="1145980"/>
            <a:ext cx="288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No labels are provided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760D34-BEB6-9902-10F3-920D00A0EA61}"/>
              </a:ext>
            </a:extLst>
          </p:cNvPr>
          <p:cNvSpPr txBox="1"/>
          <p:nvPr/>
        </p:nvSpPr>
        <p:spPr>
          <a:xfrm>
            <a:off x="4971005" y="3572703"/>
            <a:ext cx="2343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9AF8C">
                    <a:lumMod val="40000"/>
                    <a:lumOff val="60000"/>
                  </a:srgb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Goal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Discover a data structure </a:t>
            </a:r>
            <a:r>
              <a:rPr lang="en-US" dirty="0">
                <a:solidFill>
                  <a:prstClr val="white"/>
                </a:solidFill>
                <a:latin typeface="Garamond" panose="02020404030301010803"/>
              </a:rPr>
              <a:t>(groups, patterns)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603CB-0CCB-DD03-3744-6F4D61C00C1C}"/>
              </a:ext>
            </a:extLst>
          </p:cNvPr>
          <p:cNvSpPr txBox="1"/>
          <p:nvPr/>
        </p:nvSpPr>
        <p:spPr>
          <a:xfrm>
            <a:off x="4716756" y="4827722"/>
            <a:ext cx="277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9AF8C">
                    <a:lumMod val="40000"/>
                    <a:lumOff val="60000"/>
                  </a:srgb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Challenges</a:t>
            </a: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No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groun</a:t>
            </a:r>
            <a:r>
              <a:rPr lang="en-US" dirty="0">
                <a:solidFill>
                  <a:prstClr val="white"/>
                </a:solidFill>
                <a:latin typeface="Garamond" panose="02020404030301010803"/>
              </a:rPr>
              <a:t>d truth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Results validation</a:t>
            </a: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Meaning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of the discovered groups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B8E2BE-14A3-C213-B8C8-38A4FE77762D}"/>
              </a:ext>
            </a:extLst>
          </p:cNvPr>
          <p:cNvGrpSpPr/>
          <p:nvPr/>
        </p:nvGrpSpPr>
        <p:grpSpPr>
          <a:xfrm>
            <a:off x="4576301" y="1593428"/>
            <a:ext cx="3122881" cy="723559"/>
            <a:chOff x="4607970" y="2286998"/>
            <a:chExt cx="3122881" cy="723559"/>
          </a:xfrm>
        </p:grpSpPr>
        <p:pic>
          <p:nvPicPr>
            <p:cNvPr id="13" name="Picture 12" descr="A picture containing outdoor object, worm&#10;&#10;Description automatically generated">
              <a:extLst>
                <a:ext uri="{FF2B5EF4-FFF2-40B4-BE49-F238E27FC236}">
                  <a16:creationId xmlns:a16="http://schemas.microsoft.com/office/drawing/2014/main" id="{F6A6C280-B7D8-AEB8-B141-07B1A5102A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58" t="36551" r="62012" b="57902"/>
            <a:stretch>
              <a:fillRect/>
            </a:stretch>
          </p:blipFill>
          <p:spPr>
            <a:xfrm rot="16200000">
              <a:off x="4607967" y="2290555"/>
              <a:ext cx="720005" cy="72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B707B15-048D-BBBE-5EE6-08C527E454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1" t="39186" r="70776" b="55905"/>
            <a:stretch/>
          </p:blipFill>
          <p:spPr bwMode="auto">
            <a:xfrm rot="16200000">
              <a:off x="5408927" y="2290555"/>
              <a:ext cx="720005" cy="72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  <p:pic>
          <p:nvPicPr>
            <p:cNvPr id="15" name="Picture 14" descr="A picture containing outdoor object, worm&#10;&#10;Description automatically generated">
              <a:extLst>
                <a:ext uri="{FF2B5EF4-FFF2-40B4-BE49-F238E27FC236}">
                  <a16:creationId xmlns:a16="http://schemas.microsoft.com/office/drawing/2014/main" id="{8CA8F607-DF21-976A-739E-DEAF640B53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95" t="1616" r="68875" b="92837"/>
            <a:stretch>
              <a:fillRect/>
            </a:stretch>
          </p:blipFill>
          <p:spPr>
            <a:xfrm rot="16200000">
              <a:off x="6209887" y="2287001"/>
              <a:ext cx="720006" cy="72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F71799B-A55E-699E-5BFE-D6E6708BF8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4" t="47901" r="72903" b="47190"/>
            <a:stretch/>
          </p:blipFill>
          <p:spPr bwMode="auto">
            <a:xfrm rot="16200000">
              <a:off x="7010848" y="2287001"/>
              <a:ext cx="720005" cy="72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</p:pic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F9E852-2CFA-F41D-3400-DB176FAD2483}"/>
              </a:ext>
            </a:extLst>
          </p:cNvPr>
          <p:cNvCxnSpPr>
            <a:cxnSpLocks/>
          </p:cNvCxnSpPr>
          <p:nvPr/>
        </p:nvCxnSpPr>
        <p:spPr>
          <a:xfrm>
            <a:off x="6137741" y="2417914"/>
            <a:ext cx="0" cy="253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0276ED-55D3-4CD5-1AFA-2AD29C838659}"/>
              </a:ext>
            </a:extLst>
          </p:cNvPr>
          <p:cNvGrpSpPr/>
          <p:nvPr/>
        </p:nvGrpSpPr>
        <p:grpSpPr>
          <a:xfrm>
            <a:off x="4794835" y="2729401"/>
            <a:ext cx="2685812" cy="761082"/>
            <a:chOff x="4805058" y="3489358"/>
            <a:chExt cx="2685812" cy="76108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77C4289-2482-B6C0-DB40-1AFE55EBD35A}"/>
                </a:ext>
              </a:extLst>
            </p:cNvPr>
            <p:cNvGrpSpPr/>
            <p:nvPr/>
          </p:nvGrpSpPr>
          <p:grpSpPr>
            <a:xfrm>
              <a:off x="4805058" y="3489358"/>
              <a:ext cx="759600" cy="761082"/>
              <a:chOff x="5041228" y="3441302"/>
              <a:chExt cx="759600" cy="76108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EE9F381-B0B5-94AE-DA4A-35446C18D536}"/>
                  </a:ext>
                </a:extLst>
              </p:cNvPr>
              <p:cNvSpPr/>
              <p:nvPr/>
            </p:nvSpPr>
            <p:spPr>
              <a:xfrm>
                <a:off x="5257799" y="3606800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EFE4C6B-63BD-4FE3-7348-7FCC7B0DFA53}"/>
                  </a:ext>
                </a:extLst>
              </p:cNvPr>
              <p:cNvSpPr/>
              <p:nvPr/>
            </p:nvSpPr>
            <p:spPr>
              <a:xfrm>
                <a:off x="5410199" y="3759200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CBD8408-F976-3776-F6AF-CE9EB6272E30}"/>
                  </a:ext>
                </a:extLst>
              </p:cNvPr>
              <p:cNvSpPr/>
              <p:nvPr/>
            </p:nvSpPr>
            <p:spPr>
              <a:xfrm>
                <a:off x="5212340" y="3866293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43900D2-79ED-B0F0-7981-F1EBC028583C}"/>
                  </a:ext>
                </a:extLst>
              </p:cNvPr>
              <p:cNvSpPr/>
              <p:nvPr/>
            </p:nvSpPr>
            <p:spPr>
              <a:xfrm>
                <a:off x="5410199" y="3910743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8B5CB40-AA49-AD9E-FC59-379C625B9C0A}"/>
                  </a:ext>
                </a:extLst>
              </p:cNvPr>
              <p:cNvSpPr/>
              <p:nvPr/>
            </p:nvSpPr>
            <p:spPr>
              <a:xfrm>
                <a:off x="5500199" y="361843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EADF47D-AFF6-442C-615B-84D5BAC50BA4}"/>
                  </a:ext>
                </a:extLst>
              </p:cNvPr>
              <p:cNvSpPr/>
              <p:nvPr/>
            </p:nvSpPr>
            <p:spPr>
              <a:xfrm>
                <a:off x="5041228" y="3441302"/>
                <a:ext cx="759600" cy="76108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DA448D-7655-5C7F-1E9D-E04A88592950}"/>
                </a:ext>
              </a:extLst>
            </p:cNvPr>
            <p:cNvGrpSpPr/>
            <p:nvPr/>
          </p:nvGrpSpPr>
          <p:grpSpPr>
            <a:xfrm>
              <a:off x="5768164" y="3489358"/>
              <a:ext cx="759600" cy="761082"/>
              <a:chOff x="5971940" y="3466536"/>
              <a:chExt cx="759600" cy="761082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C8FA7D-763A-07D6-00AD-79D829049F8E}"/>
                  </a:ext>
                </a:extLst>
              </p:cNvPr>
              <p:cNvSpPr/>
              <p:nvPr/>
            </p:nvSpPr>
            <p:spPr>
              <a:xfrm>
                <a:off x="6164890" y="361843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D2043A7-0B28-21E3-8CC4-2DB89157BD6F}"/>
                  </a:ext>
                </a:extLst>
              </p:cNvPr>
              <p:cNvSpPr/>
              <p:nvPr/>
            </p:nvSpPr>
            <p:spPr>
              <a:xfrm>
                <a:off x="6317290" y="377083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97A2175-0040-F139-8B70-79A9CA987798}"/>
                  </a:ext>
                </a:extLst>
              </p:cNvPr>
              <p:cNvSpPr/>
              <p:nvPr/>
            </p:nvSpPr>
            <p:spPr>
              <a:xfrm>
                <a:off x="6469690" y="392323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301CE7B-18A3-CE24-5F3E-600E1F949C27}"/>
                  </a:ext>
                </a:extLst>
              </p:cNvPr>
              <p:cNvSpPr/>
              <p:nvPr/>
            </p:nvSpPr>
            <p:spPr>
              <a:xfrm>
                <a:off x="6258241" y="396768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9C5FB2A-9361-55A9-F9B1-D312D852EDFE}"/>
                  </a:ext>
                </a:extLst>
              </p:cNvPr>
              <p:cNvSpPr/>
              <p:nvPr/>
            </p:nvSpPr>
            <p:spPr>
              <a:xfrm>
                <a:off x="6128930" y="381528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E6DF052-6C54-0B5B-130A-F56FD303B6D9}"/>
                  </a:ext>
                </a:extLst>
              </p:cNvPr>
              <p:cNvSpPr/>
              <p:nvPr/>
            </p:nvSpPr>
            <p:spPr>
              <a:xfrm>
                <a:off x="6424690" y="3642715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587AF39-7D3A-4866-8121-CDCFDE1033F6}"/>
                  </a:ext>
                </a:extLst>
              </p:cNvPr>
              <p:cNvSpPr/>
              <p:nvPr/>
            </p:nvSpPr>
            <p:spPr>
              <a:xfrm>
                <a:off x="6524890" y="3777393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928348F-58EF-1D8D-BA42-48D70E2B74F2}"/>
                  </a:ext>
                </a:extLst>
              </p:cNvPr>
              <p:cNvSpPr/>
              <p:nvPr/>
            </p:nvSpPr>
            <p:spPr>
              <a:xfrm>
                <a:off x="5971940" y="3466536"/>
                <a:ext cx="759600" cy="761082"/>
              </a:xfrm>
              <a:prstGeom prst="ellipse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3D19AC6-351F-C822-380A-C6F91898DCCD}"/>
                </a:ext>
              </a:extLst>
            </p:cNvPr>
            <p:cNvGrpSpPr/>
            <p:nvPr/>
          </p:nvGrpSpPr>
          <p:grpSpPr>
            <a:xfrm>
              <a:off x="6731270" y="3489358"/>
              <a:ext cx="759600" cy="761082"/>
              <a:chOff x="6967440" y="3458542"/>
              <a:chExt cx="759600" cy="76108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EF51BD7-7FF5-47CC-F642-3397565D3332}"/>
                  </a:ext>
                </a:extLst>
              </p:cNvPr>
              <p:cNvSpPr/>
              <p:nvPr/>
            </p:nvSpPr>
            <p:spPr>
              <a:xfrm>
                <a:off x="7320080" y="3881544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E06290F-E113-27FE-A0BD-3EEBB80045E0}"/>
                  </a:ext>
                </a:extLst>
              </p:cNvPr>
              <p:cNvSpPr/>
              <p:nvPr/>
            </p:nvSpPr>
            <p:spPr>
              <a:xfrm>
                <a:off x="7196781" y="3695173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CF7ACC9-7AF4-AAD4-7F0F-C0E9CE6FDB21}"/>
                  </a:ext>
                </a:extLst>
              </p:cNvPr>
              <p:cNvSpPr/>
              <p:nvPr/>
            </p:nvSpPr>
            <p:spPr>
              <a:xfrm>
                <a:off x="7382287" y="3642715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7D671E8-D27D-CD6E-1473-83293A3AF7AE}"/>
                  </a:ext>
                </a:extLst>
              </p:cNvPr>
              <p:cNvSpPr/>
              <p:nvPr/>
            </p:nvSpPr>
            <p:spPr>
              <a:xfrm>
                <a:off x="7142649" y="3866293"/>
                <a:ext cx="90000" cy="8890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129E3C7-F48B-1F91-C064-A7C0A09BE317}"/>
                  </a:ext>
                </a:extLst>
              </p:cNvPr>
              <p:cNvSpPr/>
              <p:nvPr/>
            </p:nvSpPr>
            <p:spPr>
              <a:xfrm>
                <a:off x="6967440" y="3458542"/>
                <a:ext cx="759600" cy="761082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aramond" panose="02020404030301010803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97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3BDF-A4AF-4F26-D329-B0C0412B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Clustering vs Classification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4C4B2E-4513-A8AA-6C30-4CCBC4AA8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146303"/>
              </p:ext>
            </p:extLst>
          </p:nvPr>
        </p:nvGraphicFramePr>
        <p:xfrm>
          <a:off x="838200" y="2392680"/>
          <a:ext cx="10515600" cy="2499360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713995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4872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/>
                        <a:t>Classification</a:t>
                      </a:r>
                    </a:p>
                    <a:p>
                      <a:pPr algn="ctr">
                        <a:buNone/>
                      </a:pPr>
                      <a:r>
                        <a:rPr lang="en-CA" sz="2800" dirty="0"/>
                        <a:t>(Supervised)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/>
                        <a:t>Clustering</a:t>
                      </a:r>
                    </a:p>
                    <a:p>
                      <a:pPr algn="ctr">
                        <a:buNone/>
                      </a:pPr>
                      <a:r>
                        <a:rPr lang="en-CA" sz="2800" dirty="0"/>
                        <a:t>(Unsupervised)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026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/>
                        <a:t>Labels are 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/>
                        <a:t>No labels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72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/>
                        <a:t>Learn from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/>
                        <a:t>Discover hidden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5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/>
                        <a:t>Predict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/>
                        <a:t>Reveal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30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98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1877-AEE3-3435-75B4-32FF7A3E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Different ways to cluster data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4BB9-DEE3-C4CB-285B-D8E6ACB1B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465" y="1331259"/>
            <a:ext cx="7480327" cy="4619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26FEE6-CC28-D442-695C-FD394E27623F}"/>
              </a:ext>
            </a:extLst>
          </p:cNvPr>
          <p:cNvSpPr txBox="1"/>
          <p:nvPr/>
        </p:nvSpPr>
        <p:spPr>
          <a:xfrm>
            <a:off x="6340525" y="5950361"/>
            <a:ext cx="6098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medium.com</a:t>
            </a:r>
            <a:r>
              <a:rPr lang="en-US" sz="900" dirty="0"/>
              <a:t>/@</a:t>
            </a:r>
            <a:r>
              <a:rPr lang="en-US" sz="900" dirty="0" err="1"/>
              <a:t>kiranvutukuri</a:t>
            </a:r>
            <a:r>
              <a:rPr lang="en-US" sz="900" dirty="0"/>
              <a:t>/28-clustering-algorithms-k-means-dbscan-and-hierarchical-4fbac2ad0bc0</a:t>
            </a:r>
          </a:p>
        </p:txBody>
      </p:sp>
    </p:spTree>
    <p:extLst>
      <p:ext uri="{BB962C8B-B14F-4D97-AF65-F5344CB8AC3E}">
        <p14:creationId xmlns:p14="http://schemas.microsoft.com/office/powerpoint/2010/main" val="341675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2946C-1B99-FB55-D54D-A0B17ECD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K-means	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949F-F29F-0A5D-D02E-94490C2E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700"/>
              <a:t>Choose number of clusters : 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Random initialization of the k centroids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Each data point is assigned to the nearest center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Update centroids by averaging assigned points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Iterate until the centers stop moving</a:t>
            </a:r>
          </a:p>
        </p:txBody>
      </p:sp>
      <p:pic>
        <p:nvPicPr>
          <p:cNvPr id="4" name="Picture 3" descr="Concepts in Machine Learning Class 3: Unsupervised Learning | Concepts in Machine Learning">
            <a:extLst>
              <a:ext uri="{FF2B5EF4-FFF2-40B4-BE49-F238E27FC236}">
                <a16:creationId xmlns:a16="http://schemas.microsoft.com/office/drawing/2014/main" id="{DD0C5AD4-49AD-4B4C-D868-8736BA9D1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02" y="640080"/>
            <a:ext cx="6700108" cy="5577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91B2E2-603F-8694-AC2E-FDB16C80A1BA}"/>
              </a:ext>
            </a:extLst>
          </p:cNvPr>
          <p:cNvSpPr txBox="1"/>
          <p:nvPr/>
        </p:nvSpPr>
        <p:spPr>
          <a:xfrm>
            <a:off x="4756102" y="6277794"/>
            <a:ext cx="60982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0" i="0" dirty="0" err="1">
                <a:effectLst/>
                <a:latin typeface="Arial" panose="020B0604020202020204" pitchFamily="34" charset="0"/>
              </a:rPr>
              <a:t>Oleiwi</a:t>
            </a:r>
            <a:r>
              <a:rPr lang="en-CA" sz="1100" b="0" i="0" dirty="0">
                <a:effectLst/>
                <a:latin typeface="Arial" panose="020B0604020202020204" pitchFamily="34" charset="0"/>
              </a:rPr>
              <a:t>, A.A.H. and Adebayo, A.O., 2019. Data Mining Application Using Clustering Techniques (K-Means Algorithm) In The Analysis Of Student’s Result. </a:t>
            </a:r>
            <a:r>
              <a:rPr lang="en-CA" sz="1100" b="0" i="1" dirty="0">
                <a:effectLst/>
                <a:latin typeface="Arial" panose="020B0604020202020204" pitchFamily="34" charset="0"/>
              </a:rPr>
              <a:t>Journal of Multidisciplinary Engineering Science Studies</a:t>
            </a:r>
            <a:r>
              <a:rPr lang="en-CA" sz="1100" b="0" i="0" dirty="0">
                <a:effectLst/>
                <a:latin typeface="Arial" panose="020B0604020202020204" pitchFamily="34" charset="0"/>
              </a:rPr>
              <a:t>, </a:t>
            </a:r>
            <a:r>
              <a:rPr lang="en-CA" sz="1100" b="0" i="1" dirty="0">
                <a:effectLst/>
                <a:latin typeface="Arial" panose="020B0604020202020204" pitchFamily="34" charset="0"/>
              </a:rPr>
              <a:t>5</a:t>
            </a:r>
            <a:r>
              <a:rPr lang="en-CA" sz="1100" b="0" i="0" dirty="0">
                <a:effectLst/>
                <a:latin typeface="Arial" panose="020B0604020202020204" pitchFamily="34" charset="0"/>
              </a:rPr>
              <a:t>(5), pp.2587-2593.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6547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DE226-B325-3BA4-E0A9-0A0348B8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Hierarchical clustering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A157A-ED87-B232-2E4B-8A97DF941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700"/>
              <a:t>Every data point starts as a unique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Merge the two closest observations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Repeat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Output : Dendrogram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Decide where to : cut the three – optimal number of clusters to represent the data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i="1"/>
              <a:t>Different linking methods will influence which clusters are merged together</a:t>
            </a:r>
          </a:p>
        </p:txBody>
      </p:sp>
      <p:pic>
        <p:nvPicPr>
          <p:cNvPr id="4" name="Picture 3" descr="What is Hierarchical Clustering? Examples in Analytics | PlainSignal">
            <a:extLst>
              <a:ext uri="{FF2B5EF4-FFF2-40B4-BE49-F238E27FC236}">
                <a16:creationId xmlns:a16="http://schemas.microsoft.com/office/drawing/2014/main" id="{555F76C3-9416-41C3-B303-9F9230090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79" t="11716" r="6332"/>
          <a:stretch>
            <a:fillRect/>
          </a:stretch>
        </p:blipFill>
        <p:spPr>
          <a:xfrm>
            <a:off x="5761706" y="1624673"/>
            <a:ext cx="6118412" cy="381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13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7F036-6D57-2D57-C1A9-E5FAB462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DBSCAN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37082-DDFD-DBF4-E5B9-B1E583FB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455920" cy="3483864"/>
          </a:xfrm>
        </p:spPr>
        <p:txBody>
          <a:bodyPr>
            <a:normAutofit/>
          </a:bodyPr>
          <a:lstStyle/>
          <a:p>
            <a:r>
              <a:rPr lang="en-US" sz="2200" dirty="0"/>
              <a:t>Defines a cluster as a crowded area of points</a:t>
            </a:r>
          </a:p>
          <a:p>
            <a:r>
              <a:rPr lang="en-US" sz="2200" dirty="0"/>
              <a:t>A points belongs to a cluster if it as enough neighbors</a:t>
            </a:r>
          </a:p>
          <a:p>
            <a:r>
              <a:rPr lang="en-US" sz="2200" dirty="0"/>
              <a:t>Sparse point become noise</a:t>
            </a:r>
          </a:p>
          <a:p>
            <a:r>
              <a:rPr lang="en-US" sz="2200" dirty="0"/>
              <a:t>Parameters to set : </a:t>
            </a:r>
          </a:p>
          <a:p>
            <a:pPr lvl="1"/>
            <a:r>
              <a:rPr lang="en-US" sz="2200" dirty="0"/>
              <a:t>Neighborhood radius</a:t>
            </a:r>
          </a:p>
          <a:p>
            <a:pPr lvl="1"/>
            <a:r>
              <a:rPr lang="en-US" sz="2200" dirty="0"/>
              <a:t>Minimum number of points to form a dense region</a:t>
            </a:r>
          </a:p>
        </p:txBody>
      </p:sp>
      <p:pic>
        <p:nvPicPr>
          <p:cNvPr id="4" name="Picture 3" descr="A Guide to DBSCAN Clustering: What You Need To Know!">
            <a:extLst>
              <a:ext uri="{FF2B5EF4-FFF2-40B4-BE49-F238E27FC236}">
                <a16:creationId xmlns:a16="http://schemas.microsoft.com/office/drawing/2014/main" id="{411F86CB-61E9-7A98-094C-3B39D275D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3" t="23112" r="13579"/>
          <a:stretch>
            <a:fillRect/>
          </a:stretch>
        </p:blipFill>
        <p:spPr>
          <a:xfrm>
            <a:off x="6736080" y="285594"/>
            <a:ext cx="5141976" cy="36421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640467-BD09-AA81-CEA7-B7364ABD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4073525"/>
            <a:ext cx="5141976" cy="24552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A181C3-88C1-B234-9E4A-A1FE6CD2FE3C}"/>
              </a:ext>
            </a:extLst>
          </p:cNvPr>
          <p:cNvSpPr txBox="1"/>
          <p:nvPr/>
        </p:nvSpPr>
        <p:spPr>
          <a:xfrm>
            <a:off x="6736080" y="6376262"/>
            <a:ext cx="6098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CA" sz="1100" dirty="0"/>
            </a:br>
            <a:r>
              <a:rPr lang="en-CA" sz="1100" b="1" i="0" dirty="0">
                <a:solidFill>
                  <a:srgbClr val="F1F1F1"/>
                </a:solidFill>
                <a:effectLst/>
                <a:latin typeface="Roboto" panose="02000000000000000000" pitchFamily="2" charset="0"/>
              </a:rPr>
              <a:t>ML Course Chapter 10 | Clustering: K-Means, Hierarchical, BIRCH, CURE, DBSCAN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325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1B76-EADF-36B5-A6C5-3AB2C0DD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Comparison of the three methods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30FBBC-A617-3C28-EB5F-791D40DD4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627473"/>
              </p:ext>
            </p:extLst>
          </p:nvPr>
        </p:nvGraphicFramePr>
        <p:xfrm>
          <a:off x="706882" y="1325563"/>
          <a:ext cx="10778236" cy="5075020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4442689">
                  <a:extLst>
                    <a:ext uri="{9D8B030D-6E8A-4147-A177-3AD203B41FA5}">
                      <a16:colId xmlns:a16="http://schemas.microsoft.com/office/drawing/2014/main" val="2120610994"/>
                    </a:ext>
                  </a:extLst>
                </a:gridCol>
                <a:gridCol w="2111849">
                  <a:extLst>
                    <a:ext uri="{9D8B030D-6E8A-4147-A177-3AD203B41FA5}">
                      <a16:colId xmlns:a16="http://schemas.microsoft.com/office/drawing/2014/main" val="310009601"/>
                    </a:ext>
                  </a:extLst>
                </a:gridCol>
                <a:gridCol w="2111849">
                  <a:extLst>
                    <a:ext uri="{9D8B030D-6E8A-4147-A177-3AD203B41FA5}">
                      <a16:colId xmlns:a16="http://schemas.microsoft.com/office/drawing/2014/main" val="2879464092"/>
                    </a:ext>
                  </a:extLst>
                </a:gridCol>
                <a:gridCol w="2111849">
                  <a:extLst>
                    <a:ext uri="{9D8B030D-6E8A-4147-A177-3AD203B41FA5}">
                      <a16:colId xmlns:a16="http://schemas.microsoft.com/office/drawing/2014/main" val="1012405556"/>
                    </a:ext>
                  </a:extLst>
                </a:gridCol>
              </a:tblGrid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Criterion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/>
                        <a:t>K-means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/>
                        <a:t>Hierarchical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/>
                        <a:t>DBSCAN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1126820944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Need to specify the number of clusters (K)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✅ Yes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No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No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3370113506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Main parameters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/>
                        <a:t>K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/>
                        <a:t>Linkage method, distance metric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 err="1"/>
                        <a:t>ε</a:t>
                      </a:r>
                      <a:r>
                        <a:rPr lang="en-CA" sz="1800" dirty="0"/>
                        <a:t> (eps), </a:t>
                      </a:r>
                      <a:r>
                        <a:rPr lang="en-CA" sz="1800" dirty="0" err="1"/>
                        <a:t>minPts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880507472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Sensitivity to parameter selection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/>
                        <a:t>Moderate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/>
                        <a:t>Moderate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/>
                        <a:t>High</a:t>
                      </a:r>
                      <a:endParaRPr lang="en-CA" sz="1800" dirty="0"/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2452783527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Handles irregular cluster shapes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Poor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⚠️ Moderate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✅ Excellent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1499432741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Handles varying cluster densities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Poor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⚠️ Moderate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Poor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2855825806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Detects outliers automatically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No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No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✅ Yes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1804360334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Produces a hierarchy (dendrogram)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No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✅ Yes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❌ No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3600965098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Computational efficiency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⭐⭐⭐ Fast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/>
                        <a:t>⭐ Slow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⭐⭐ Moderate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1891860869"/>
                  </a:ext>
                </a:extLst>
              </a:tr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Interpretability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⭐⭐⭐ High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/>
                        <a:t>⭐⭐⭐ High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⭐⭐ Moderate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2211520858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Best suited for</a:t>
                      </a:r>
                      <a:endParaRPr lang="en-CA" sz="180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/>
                        <a:t>Compact, spherical clusters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/>
                        <a:t>Exploring nested relationships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/>
                        <a:t>Arbitrary-shaped clusters with noise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22171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70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369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</vt:lpstr>
      <vt:lpstr>Garamond</vt:lpstr>
      <vt:lpstr>Roboto</vt:lpstr>
      <vt:lpstr>Office Theme</vt:lpstr>
      <vt:lpstr>Unsupervised learning : Clustering</vt:lpstr>
      <vt:lpstr>Clustering vs Classification</vt:lpstr>
      <vt:lpstr>Different ways to cluster data</vt:lpstr>
      <vt:lpstr>K-means </vt:lpstr>
      <vt:lpstr>Hierarchical clustering</vt:lpstr>
      <vt:lpstr>DBSCAN</vt:lpstr>
      <vt:lpstr>Comparison of the three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Flavie Lavoie-Cardinal</dc:creator>
  <cp:lastModifiedBy>Flavie Lavoie-Cardinal</cp:lastModifiedBy>
  <cp:revision>4</cp:revision>
  <dcterms:created xsi:type="dcterms:W3CDTF">2026-07-11T06:14:29Z</dcterms:created>
  <dcterms:modified xsi:type="dcterms:W3CDTF">2026-07-11T08:28:01Z</dcterms:modified>
</cp:coreProperties>
</file>